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338" r:id="rId2"/>
    <p:sldId id="410" r:id="rId3"/>
    <p:sldId id="411" r:id="rId4"/>
    <p:sldId id="412" r:id="rId5"/>
    <p:sldId id="355" r:id="rId6"/>
    <p:sldId id="389" r:id="rId7"/>
    <p:sldId id="356" r:id="rId8"/>
    <p:sldId id="357" r:id="rId9"/>
    <p:sldId id="358" r:id="rId10"/>
    <p:sldId id="401" r:id="rId11"/>
    <p:sldId id="372" r:id="rId12"/>
    <p:sldId id="366" r:id="rId13"/>
    <p:sldId id="367" r:id="rId14"/>
    <p:sldId id="388" r:id="rId15"/>
    <p:sldId id="370" r:id="rId16"/>
    <p:sldId id="374" r:id="rId17"/>
    <p:sldId id="375" r:id="rId18"/>
    <p:sldId id="373" r:id="rId19"/>
    <p:sldId id="376" r:id="rId20"/>
    <p:sldId id="369" r:id="rId21"/>
    <p:sldId id="397" r:id="rId22"/>
    <p:sldId id="398" r:id="rId23"/>
    <p:sldId id="371" r:id="rId24"/>
    <p:sldId id="359" r:id="rId25"/>
    <p:sldId id="360" r:id="rId26"/>
    <p:sldId id="361" r:id="rId27"/>
    <p:sldId id="364" r:id="rId28"/>
    <p:sldId id="402" r:id="rId29"/>
    <p:sldId id="403" r:id="rId30"/>
    <p:sldId id="404" r:id="rId31"/>
    <p:sldId id="362" r:id="rId32"/>
    <p:sldId id="390" r:id="rId33"/>
    <p:sldId id="405" r:id="rId34"/>
    <p:sldId id="392" r:id="rId35"/>
    <p:sldId id="393" r:id="rId36"/>
    <p:sldId id="391" r:id="rId37"/>
    <p:sldId id="408" r:id="rId38"/>
    <p:sldId id="406" r:id="rId39"/>
    <p:sldId id="407" r:id="rId40"/>
    <p:sldId id="365" r:id="rId41"/>
    <p:sldId id="377" r:id="rId42"/>
    <p:sldId id="396" r:id="rId43"/>
    <p:sldId id="400" r:id="rId44"/>
    <p:sldId id="413" r:id="rId45"/>
    <p:sldId id="378" r:id="rId46"/>
    <p:sldId id="379" r:id="rId47"/>
    <p:sldId id="380" r:id="rId48"/>
    <p:sldId id="381" r:id="rId49"/>
    <p:sldId id="382" r:id="rId50"/>
    <p:sldId id="383" r:id="rId51"/>
    <p:sldId id="384" r:id="rId52"/>
    <p:sldId id="385" r:id="rId53"/>
    <p:sldId id="368" r:id="rId54"/>
    <p:sldId id="386" r:id="rId55"/>
    <p:sldId id="387" r:id="rId56"/>
    <p:sldId id="394" r:id="rId57"/>
    <p:sldId id="395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AAD0A8-3091-4973-B0AE-D32FAFC7014D}" v="10" dt="2025-12-08T09:37:16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3" autoAdjust="0"/>
    <p:restoredTop sz="94660"/>
  </p:normalViewPr>
  <p:slideViewPr>
    <p:cSldViewPr snapToGrid="0">
      <p:cViewPr varScale="1">
        <p:scale>
          <a:sx n="91" d="100"/>
          <a:sy n="91" d="100"/>
        </p:scale>
        <p:origin x="210" y="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1" d="100"/>
        <a:sy n="81" d="100"/>
      </p:scale>
      <p:origin x="0" y="-50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Hall" userId="20a929390bca5442" providerId="LiveId" clId="{B3B650FB-3F24-478A-97D4-5EFD94C432CE}"/>
    <pc:docChg chg="undo custSel addSld delSld modSld sldOrd">
      <pc:chgData name="Ben Hall" userId="20a929390bca5442" providerId="LiveId" clId="{B3B650FB-3F24-478A-97D4-5EFD94C432CE}" dt="2025-12-08T10:08:01.175" v="1418" actId="47"/>
      <pc:docMkLst>
        <pc:docMk/>
      </pc:docMkLst>
      <pc:sldChg chg="modSp mod">
        <pc:chgData name="Ben Hall" userId="20a929390bca5442" providerId="LiveId" clId="{B3B650FB-3F24-478A-97D4-5EFD94C432CE}" dt="2025-12-08T09:21:53.236" v="847" actId="20577"/>
        <pc:sldMkLst>
          <pc:docMk/>
          <pc:sldMk cId="2389057053" sldId="338"/>
        </pc:sldMkLst>
        <pc:spChg chg="mod">
          <ac:chgData name="Ben Hall" userId="20a929390bca5442" providerId="LiveId" clId="{B3B650FB-3F24-478A-97D4-5EFD94C432CE}" dt="2025-12-08T09:21:53.236" v="847" actId="20577"/>
          <ac:spMkLst>
            <pc:docMk/>
            <pc:sldMk cId="2389057053" sldId="338"/>
            <ac:spMk id="2" creationId="{00000000-0000-0000-0000-000000000000}"/>
          </ac:spMkLst>
        </pc:spChg>
      </pc:sldChg>
      <pc:sldChg chg="modSp mod">
        <pc:chgData name="Ben Hall" userId="20a929390bca5442" providerId="LiveId" clId="{B3B650FB-3F24-478A-97D4-5EFD94C432CE}" dt="2025-12-08T09:42:16.341" v="1335" actId="20577"/>
        <pc:sldMkLst>
          <pc:docMk/>
          <pc:sldMk cId="3898521442" sldId="355"/>
        </pc:sldMkLst>
        <pc:spChg chg="mod">
          <ac:chgData name="Ben Hall" userId="20a929390bca5442" providerId="LiveId" clId="{B3B650FB-3F24-478A-97D4-5EFD94C432CE}" dt="2025-12-08T09:42:16.341" v="1335" actId="20577"/>
          <ac:spMkLst>
            <pc:docMk/>
            <pc:sldMk cId="3898521442" sldId="355"/>
            <ac:spMk id="3" creationId="{2D658E60-4CE6-EF1A-1ADF-DFF3CC51AB0F}"/>
          </ac:spMkLst>
        </pc:spChg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151515262" sldId="359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558698380" sldId="360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658021911" sldId="361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51198507" sldId="362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671325238" sldId="364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2049630762" sldId="365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2562383027" sldId="368"/>
        </pc:sldMkLst>
      </pc:sldChg>
      <pc:sldChg chg="ord">
        <pc:chgData name="Ben Hall" userId="20a929390bca5442" providerId="LiveId" clId="{B3B650FB-3F24-478A-97D4-5EFD94C432CE}" dt="2025-12-08T09:27:50.135" v="1069"/>
        <pc:sldMkLst>
          <pc:docMk/>
          <pc:sldMk cId="2417684904" sldId="369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1831209265" sldId="377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3248104913" sldId="378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3664060163" sldId="379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2596960122" sldId="380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4153754389" sldId="381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1655413936" sldId="382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2801287354" sldId="383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225568382" sldId="384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761286863" sldId="385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3068441685" sldId="386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1270418665" sldId="387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2073224134" sldId="390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2310514912" sldId="391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2233377240" sldId="392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3112372109" sldId="393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2262018487" sldId="394"/>
        </pc:sldMkLst>
      </pc:sldChg>
      <pc:sldChg chg="ord">
        <pc:chgData name="Ben Hall" userId="20a929390bca5442" providerId="LiveId" clId="{B3B650FB-3F24-478A-97D4-5EFD94C432CE}" dt="2025-12-08T09:28:08.248" v="1073"/>
        <pc:sldMkLst>
          <pc:docMk/>
          <pc:sldMk cId="3197807402" sldId="395"/>
        </pc:sldMkLst>
      </pc:sldChg>
      <pc:sldChg chg="ord">
        <pc:chgData name="Ben Hall" userId="20a929390bca5442" providerId="LiveId" clId="{B3B650FB-3F24-478A-97D4-5EFD94C432CE}" dt="2025-12-08T09:27:50.135" v="1069"/>
        <pc:sldMkLst>
          <pc:docMk/>
          <pc:sldMk cId="1466392566" sldId="397"/>
        </pc:sldMkLst>
      </pc:sldChg>
      <pc:sldChg chg="ord">
        <pc:chgData name="Ben Hall" userId="20a929390bca5442" providerId="LiveId" clId="{B3B650FB-3F24-478A-97D4-5EFD94C432CE}" dt="2025-12-08T09:27:50.135" v="1069"/>
        <pc:sldMkLst>
          <pc:docMk/>
          <pc:sldMk cId="954629731" sldId="398"/>
        </pc:sldMkLst>
      </pc:sldChg>
      <pc:sldChg chg="del ord">
        <pc:chgData name="Ben Hall" userId="20a929390bca5442" providerId="LiveId" clId="{B3B650FB-3F24-478A-97D4-5EFD94C432CE}" dt="2025-12-08T09:43:41.392" v="1336" actId="47"/>
        <pc:sldMkLst>
          <pc:docMk/>
          <pc:sldMk cId="590927531" sldId="399"/>
        </pc:sldMkLst>
      </pc:sldChg>
      <pc:sldChg chg="modSp mod">
        <pc:chgData name="Ben Hall" userId="20a929390bca5442" providerId="LiveId" clId="{B3B650FB-3F24-478A-97D4-5EFD94C432CE}" dt="2025-12-08T09:30:22.442" v="1202" actId="20577"/>
        <pc:sldMkLst>
          <pc:docMk/>
          <pc:sldMk cId="1710951683" sldId="400"/>
        </pc:sldMkLst>
        <pc:spChg chg="mod">
          <ac:chgData name="Ben Hall" userId="20a929390bca5442" providerId="LiveId" clId="{B3B650FB-3F24-478A-97D4-5EFD94C432CE}" dt="2025-12-08T09:30:22.442" v="1202" actId="20577"/>
          <ac:spMkLst>
            <pc:docMk/>
            <pc:sldMk cId="1710951683" sldId="400"/>
            <ac:spMk id="3" creationId="{F442B703-DA0F-4418-BF98-AA7193FD6DD2}"/>
          </ac:spMkLst>
        </pc:spChg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872943245" sldId="402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1546626132" sldId="403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1040356149" sldId="404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4048549160" sldId="405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261009936" sldId="406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2467175378" sldId="407"/>
        </pc:sldMkLst>
      </pc:sldChg>
      <pc:sldChg chg="mod modShow">
        <pc:chgData name="Ben Hall" userId="20a929390bca5442" providerId="LiveId" clId="{B3B650FB-3F24-478A-97D4-5EFD94C432CE}" dt="2025-12-05T13:56:18.332" v="478" actId="729"/>
        <pc:sldMkLst>
          <pc:docMk/>
          <pc:sldMk cId="1592276872" sldId="408"/>
        </pc:sldMkLst>
      </pc:sldChg>
      <pc:sldChg chg="addSp modSp mod addAnim delAnim modAnim">
        <pc:chgData name="Ben Hall" userId="20a929390bca5442" providerId="LiveId" clId="{B3B650FB-3F24-478A-97D4-5EFD94C432CE}" dt="2025-12-08T09:38:11.982" v="1236" actId="1035"/>
        <pc:sldMkLst>
          <pc:docMk/>
          <pc:sldMk cId="4123418725" sldId="410"/>
        </pc:sldMkLst>
        <pc:spChg chg="mod">
          <ac:chgData name="Ben Hall" userId="20a929390bca5442" providerId="LiveId" clId="{B3B650FB-3F24-478A-97D4-5EFD94C432CE}" dt="2025-12-08T09:15:38.525" v="839" actId="21"/>
          <ac:spMkLst>
            <pc:docMk/>
            <pc:sldMk cId="4123418725" sldId="410"/>
            <ac:spMk id="3" creationId="{B63ED274-3EEB-2335-5282-F92D04D3B1DB}"/>
          </ac:spMkLst>
        </pc:spChg>
        <pc:cxnChg chg="add mod">
          <ac:chgData name="Ben Hall" userId="20a929390bca5442" providerId="LiveId" clId="{B3B650FB-3F24-478A-97D4-5EFD94C432CE}" dt="2025-12-08T09:38:11.982" v="1236" actId="1035"/>
          <ac:cxnSpMkLst>
            <pc:docMk/>
            <pc:sldMk cId="4123418725" sldId="410"/>
            <ac:cxnSpMk id="5" creationId="{E3004F9B-B2EB-1E85-A576-FAB0BF1A2A70}"/>
          </ac:cxnSpMkLst>
        </pc:cxnChg>
      </pc:sldChg>
      <pc:sldChg chg="addSp delSp modSp new mod modClrScheme chgLayout">
        <pc:chgData name="Ben Hall" userId="20a929390bca5442" providerId="LiveId" clId="{B3B650FB-3F24-478A-97D4-5EFD94C432CE}" dt="2025-12-08T09:08:51.072" v="486"/>
        <pc:sldMkLst>
          <pc:docMk/>
          <pc:sldMk cId="1524607357" sldId="411"/>
        </pc:sldMkLst>
        <pc:spChg chg="del mod ord">
          <ac:chgData name="Ben Hall" userId="20a929390bca5442" providerId="LiveId" clId="{B3B650FB-3F24-478A-97D4-5EFD94C432CE}" dt="2025-12-08T09:07:32.277" v="480" actId="700"/>
          <ac:spMkLst>
            <pc:docMk/>
            <pc:sldMk cId="1524607357" sldId="411"/>
            <ac:spMk id="2" creationId="{51476CEE-B397-D4D6-47B2-1D643AE180F8}"/>
          </ac:spMkLst>
        </pc:spChg>
        <pc:spChg chg="del mod ord">
          <ac:chgData name="Ben Hall" userId="20a929390bca5442" providerId="LiveId" clId="{B3B650FB-3F24-478A-97D4-5EFD94C432CE}" dt="2025-12-08T09:07:32.277" v="480" actId="700"/>
          <ac:spMkLst>
            <pc:docMk/>
            <pc:sldMk cId="1524607357" sldId="411"/>
            <ac:spMk id="3" creationId="{3F5A2894-3ADE-7718-7B6F-9340571E7F22}"/>
          </ac:spMkLst>
        </pc:spChg>
        <pc:spChg chg="add mod ord">
          <ac:chgData name="Ben Hall" userId="20a929390bca5442" providerId="LiveId" clId="{B3B650FB-3F24-478A-97D4-5EFD94C432CE}" dt="2025-12-08T09:07:32.277" v="480" actId="700"/>
          <ac:spMkLst>
            <pc:docMk/>
            <pc:sldMk cId="1524607357" sldId="411"/>
            <ac:spMk id="4" creationId="{9D7FC802-481B-273A-AB39-77602ED8E174}"/>
          </ac:spMkLst>
        </pc:spChg>
        <pc:spChg chg="add del mod ord">
          <ac:chgData name="Ben Hall" userId="20a929390bca5442" providerId="LiveId" clId="{B3B650FB-3F24-478A-97D4-5EFD94C432CE}" dt="2025-12-08T09:07:33.681" v="481"/>
          <ac:spMkLst>
            <pc:docMk/>
            <pc:sldMk cId="1524607357" sldId="411"/>
            <ac:spMk id="5" creationId="{C97210AE-FB05-9F6C-3178-8A68D42A7046}"/>
          </ac:spMkLst>
        </pc:spChg>
        <pc:spChg chg="add del mod ord">
          <ac:chgData name="Ben Hall" userId="20a929390bca5442" providerId="LiveId" clId="{B3B650FB-3F24-478A-97D4-5EFD94C432CE}" dt="2025-12-08T09:08:34.165" v="482"/>
          <ac:spMkLst>
            <pc:docMk/>
            <pc:sldMk cId="1524607357" sldId="411"/>
            <ac:spMk id="6" creationId="{0E807460-3902-12F6-83DA-50A6300883A9}"/>
          </ac:spMkLst>
        </pc:spChg>
        <pc:spChg chg="add del mod">
          <ac:chgData name="Ben Hall" userId="20a929390bca5442" providerId="LiveId" clId="{B3B650FB-3F24-478A-97D4-5EFD94C432CE}" dt="2025-12-08T09:08:51.072" v="486"/>
          <ac:spMkLst>
            <pc:docMk/>
            <pc:sldMk cId="1524607357" sldId="411"/>
            <ac:spMk id="8" creationId="{BC7C8195-1C09-0872-C5C3-76F73F79EA14}"/>
          </ac:spMkLst>
        </pc:spChg>
        <pc:picChg chg="add mod">
          <ac:chgData name="Ben Hall" userId="20a929390bca5442" providerId="LiveId" clId="{B3B650FB-3F24-478A-97D4-5EFD94C432CE}" dt="2025-12-08T09:07:33.681" v="481"/>
          <ac:picMkLst>
            <pc:docMk/>
            <pc:sldMk cId="1524607357" sldId="411"/>
            <ac:picMk id="7" creationId="{CD441943-73E7-9ED5-6994-2E3766B88665}"/>
          </ac:picMkLst>
        </pc:picChg>
        <pc:picChg chg="add mod">
          <ac:chgData name="Ben Hall" userId="20a929390bca5442" providerId="LiveId" clId="{B3B650FB-3F24-478A-97D4-5EFD94C432CE}" dt="2025-12-08T09:08:51.072" v="486"/>
          <ac:picMkLst>
            <pc:docMk/>
            <pc:sldMk cId="1524607357" sldId="411"/>
            <ac:picMk id="9" creationId="{0BACCB25-6607-F05C-AD19-252C943C7594}"/>
          </ac:picMkLst>
        </pc:picChg>
        <pc:picChg chg="add del mod">
          <ac:chgData name="Ben Hall" userId="20a929390bca5442" providerId="LiveId" clId="{B3B650FB-3F24-478A-97D4-5EFD94C432CE}" dt="2025-12-08T09:08:49.775" v="485" actId="21"/>
          <ac:picMkLst>
            <pc:docMk/>
            <pc:sldMk cId="1524607357" sldId="411"/>
            <ac:picMk id="1026" creationId="{0BACCB25-6607-F05C-AD19-252C943C7594}"/>
          </ac:picMkLst>
        </pc:picChg>
      </pc:sldChg>
      <pc:sldChg chg="addSp delSp modSp new mod modClrScheme chgLayout">
        <pc:chgData name="Ben Hall" userId="20a929390bca5442" providerId="LiveId" clId="{B3B650FB-3F24-478A-97D4-5EFD94C432CE}" dt="2025-12-08T09:15:54.023" v="843" actId="20577"/>
        <pc:sldMkLst>
          <pc:docMk/>
          <pc:sldMk cId="2258728375" sldId="412"/>
        </pc:sldMkLst>
        <pc:spChg chg="mod ord">
          <ac:chgData name="Ben Hall" userId="20a929390bca5442" providerId="LiveId" clId="{B3B650FB-3F24-478A-97D4-5EFD94C432CE}" dt="2025-12-08T09:09:20.413" v="591" actId="700"/>
          <ac:spMkLst>
            <pc:docMk/>
            <pc:sldMk cId="2258728375" sldId="412"/>
            <ac:spMk id="2" creationId="{D393F15D-A42A-84BB-F858-70B355C7ED4C}"/>
          </ac:spMkLst>
        </pc:spChg>
        <pc:spChg chg="del mod ord">
          <ac:chgData name="Ben Hall" userId="20a929390bca5442" providerId="LiveId" clId="{B3B650FB-3F24-478A-97D4-5EFD94C432CE}" dt="2025-12-08T09:09:20.413" v="591" actId="700"/>
          <ac:spMkLst>
            <pc:docMk/>
            <pc:sldMk cId="2258728375" sldId="412"/>
            <ac:spMk id="3" creationId="{7562FC2D-48E7-83FD-2D27-0791901D530D}"/>
          </ac:spMkLst>
        </pc:spChg>
        <pc:spChg chg="del">
          <ac:chgData name="Ben Hall" userId="20a929390bca5442" providerId="LiveId" clId="{B3B650FB-3F24-478A-97D4-5EFD94C432CE}" dt="2025-12-08T09:09:20.413" v="591" actId="700"/>
          <ac:spMkLst>
            <pc:docMk/>
            <pc:sldMk cId="2258728375" sldId="412"/>
            <ac:spMk id="4" creationId="{B8B23C72-3A00-AC84-4777-1F5F9DAD6ECC}"/>
          </ac:spMkLst>
        </pc:spChg>
        <pc:spChg chg="add mod ord">
          <ac:chgData name="Ben Hall" userId="20a929390bca5442" providerId="LiveId" clId="{B3B650FB-3F24-478A-97D4-5EFD94C432CE}" dt="2025-12-08T09:15:54.023" v="843" actId="20577"/>
          <ac:spMkLst>
            <pc:docMk/>
            <pc:sldMk cId="2258728375" sldId="412"/>
            <ac:spMk id="5" creationId="{A7FD01C1-5FC8-E728-A761-81E301DA4C54}"/>
          </ac:spMkLst>
        </pc:spChg>
      </pc:sldChg>
      <pc:sldChg chg="new">
        <pc:chgData name="Ben Hall" userId="20a929390bca5442" providerId="LiveId" clId="{B3B650FB-3F24-478A-97D4-5EFD94C432CE}" dt="2025-12-08T09:28:16.545" v="1074" actId="680"/>
        <pc:sldMkLst>
          <pc:docMk/>
          <pc:sldMk cId="2241144466" sldId="413"/>
        </pc:sldMkLst>
      </pc:sldChg>
      <pc:sldChg chg="modSp new del mod">
        <pc:chgData name="Ben Hall" userId="20a929390bca5442" providerId="LiveId" clId="{B3B650FB-3F24-478A-97D4-5EFD94C432CE}" dt="2025-12-08T10:08:01.175" v="1418" actId="47"/>
        <pc:sldMkLst>
          <pc:docMk/>
          <pc:sldMk cId="403406635" sldId="414"/>
        </pc:sldMkLst>
        <pc:spChg chg="mod">
          <ac:chgData name="Ben Hall" userId="20a929390bca5442" providerId="LiveId" clId="{B3B650FB-3F24-478A-97D4-5EFD94C432CE}" dt="2025-12-08T09:43:56.287" v="1344" actId="20577"/>
          <ac:spMkLst>
            <pc:docMk/>
            <pc:sldMk cId="403406635" sldId="414"/>
            <ac:spMk id="2" creationId="{86C523D9-AF7C-A52E-A590-2AE3541ADA0C}"/>
          </ac:spMkLst>
        </pc:spChg>
        <pc:spChg chg="mod">
          <ac:chgData name="Ben Hall" userId="20a929390bca5442" providerId="LiveId" clId="{B3B650FB-3F24-478A-97D4-5EFD94C432CE}" dt="2025-12-08T09:44:23.901" v="1417" actId="20577"/>
          <ac:spMkLst>
            <pc:docMk/>
            <pc:sldMk cId="403406635" sldId="414"/>
            <ac:spMk id="3" creationId="{C88D7932-8C57-31B5-794E-2C307ADFC133}"/>
          </ac:spMkLst>
        </pc:spChg>
      </pc:sldChg>
      <pc:sldMasterChg chg="delSldLayout">
        <pc:chgData name="Ben Hall" userId="20a929390bca5442" providerId="LiveId" clId="{B3B650FB-3F24-478A-97D4-5EFD94C432CE}" dt="2025-12-05T13:39:12.271" v="476" actId="47"/>
        <pc:sldMasterMkLst>
          <pc:docMk/>
          <pc:sldMasterMk cId="690291149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8E03D-8C65-4B34-AD92-97D78E69033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5427A-DE26-4801-A036-DEE401570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5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15427A-DE26-4801-A036-DEE401570EC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801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14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43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51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90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99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01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59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30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90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09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356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EC9B2-62DF-4F3D-8032-0A8FE150BEF9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3F1CF-2C19-46AD-92A8-C66F5EEA8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29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Reproducibility &amp; model reuse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Ben Hall</a:t>
            </a:r>
          </a:p>
          <a:p>
            <a:r>
              <a:rPr lang="en-GB" dirty="0"/>
              <a:t>UCL</a:t>
            </a:r>
          </a:p>
        </p:txBody>
      </p:sp>
    </p:spTree>
    <p:extLst>
      <p:ext uri="{BB962C8B-B14F-4D97-AF65-F5344CB8AC3E}">
        <p14:creationId xmlns:p14="http://schemas.microsoft.com/office/powerpoint/2010/main" val="2389057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EF56-92F0-A5CA-A36B-3AA58430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ED274-3EEB-2335-5282-F92D04D3B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reuse is a key part of the modelling workflow</a:t>
            </a:r>
          </a:p>
          <a:p>
            <a:endParaRPr lang="en-GB" dirty="0"/>
          </a:p>
          <a:p>
            <a:r>
              <a:rPr lang="en-GB" dirty="0"/>
              <a:t>Does it create risks for the reusing researcher?</a:t>
            </a:r>
          </a:p>
          <a:p>
            <a:pPr lvl="1"/>
            <a:r>
              <a:rPr lang="en-GB" dirty="0"/>
              <a:t>No, free lunches!</a:t>
            </a:r>
          </a:p>
          <a:p>
            <a:pPr lvl="1"/>
            <a:r>
              <a:rPr lang="en-GB" dirty="0"/>
              <a:t>No free lunches!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004F9B-B2EB-1E85-A576-FAB0BF1A2A70}"/>
              </a:ext>
            </a:extLst>
          </p:cNvPr>
          <p:cNvCxnSpPr>
            <a:cxnSpLocks/>
          </p:cNvCxnSpPr>
          <p:nvPr/>
        </p:nvCxnSpPr>
        <p:spPr>
          <a:xfrm>
            <a:off x="1298028" y="3513084"/>
            <a:ext cx="270641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41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7FC802-481B-273A-AB39-77602ED8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441943-73E7-9ED5-6994-2E3766B886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73491" y="1825625"/>
            <a:ext cx="4711017" cy="4351338"/>
          </a:xfrm>
          <a:prstGeom prst="rect">
            <a:avLst/>
          </a:prstGeom>
        </p:spPr>
      </p:pic>
      <p:pic>
        <p:nvPicPr>
          <p:cNvPr id="9" name="Picture 2" descr="Fig. 1">
            <a:extLst>
              <a:ext uri="{FF2B5EF4-FFF2-40B4-BE49-F238E27FC236}">
                <a16:creationId xmlns:a16="http://schemas.microsoft.com/office/drawing/2014/main" id="{0BACCB25-6607-F05C-AD19-252C943C75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7" t="16671"/>
          <a:stretch>
            <a:fillRect/>
          </a:stretch>
        </p:blipFill>
        <p:spPr bwMode="auto">
          <a:xfrm>
            <a:off x="6172200" y="1898018"/>
            <a:ext cx="5181600" cy="420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607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F15D-A42A-84BB-F858-70B355C7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Difference from integration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FD01C1-5FC8-E728-A761-81E301DA4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Single dataset</a:t>
            </a:r>
            <a:r>
              <a:rPr lang="en-GB" dirty="0"/>
              <a:t> vs </a:t>
            </a:r>
            <a:r>
              <a:rPr lang="en-GB" i="1" dirty="0"/>
              <a:t>knowledge</a:t>
            </a:r>
            <a:r>
              <a:rPr lang="en-GB" dirty="0"/>
              <a:t> across literature</a:t>
            </a:r>
          </a:p>
          <a:p>
            <a:r>
              <a:rPr lang="en-GB" dirty="0"/>
              <a:t>To move left to right you need to use others work </a:t>
            </a:r>
          </a:p>
          <a:p>
            <a:r>
              <a:rPr lang="en-GB" dirty="0"/>
              <a:t>When you do this you inherit spoken and unspoken assumptions </a:t>
            </a:r>
          </a:p>
          <a:p>
            <a:endParaRPr lang="en-GB" dirty="0"/>
          </a:p>
          <a:p>
            <a:r>
              <a:rPr lang="en-GB" dirty="0"/>
              <a:t>How you work shapes your models in undocumented ways</a:t>
            </a:r>
          </a:p>
          <a:p>
            <a:r>
              <a:rPr lang="en-GB" dirty="0"/>
              <a:t>When you reuse models (including your own) those undocumented decisions and assumptions become your problem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872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A1D0-02B9-2FFA-B2D6-C41A104F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58E60-4CE6-EF1A-1ADF-DFF3CC51A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Principles, motivations, and pragmatism</a:t>
            </a:r>
          </a:p>
          <a:p>
            <a:r>
              <a:rPr lang="en-GB" dirty="0"/>
              <a:t>What is reproducibility?</a:t>
            </a:r>
          </a:p>
          <a:p>
            <a:endParaRPr lang="en-GB" dirty="0"/>
          </a:p>
          <a:p>
            <a:r>
              <a:rPr lang="en-GB" dirty="0"/>
              <a:t>Worked examples of scientific debates around high- and low- dimensional data illustrating the difficulty of trust in knowledge reuse</a:t>
            </a:r>
          </a:p>
          <a:p>
            <a:pPr lvl="1"/>
            <a:r>
              <a:rPr lang="en-GB" i="1" dirty="0"/>
              <a:t>Experiments are models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521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6D1B7-88D2-0844-097C-228AB099A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in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D80E-08A9-C611-4CA1-7B1638719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Reproducibility is a charged topic</a:t>
            </a:r>
          </a:p>
          <a:p>
            <a:pPr lvl="1"/>
            <a:r>
              <a:rPr lang="en-GB" dirty="0"/>
              <a:t>Large scale fraud by Stapel, Schoen, Hellinger</a:t>
            </a:r>
          </a:p>
          <a:p>
            <a:pPr lvl="1"/>
            <a:r>
              <a:rPr lang="en-GB" dirty="0"/>
              <a:t>Underpowered or marginal single results that have outsized impact e.g. power poses</a:t>
            </a:r>
          </a:p>
          <a:p>
            <a:pPr lvl="1"/>
            <a:endParaRPr lang="en-GB" dirty="0"/>
          </a:p>
          <a:p>
            <a:r>
              <a:rPr lang="en-GB" dirty="0"/>
              <a:t>The principles and practices are useful and important to engage with</a:t>
            </a:r>
          </a:p>
          <a:p>
            <a:pPr lvl="1"/>
            <a:endParaRPr lang="en-GB" dirty="0"/>
          </a:p>
          <a:p>
            <a:r>
              <a:rPr lang="en-GB" dirty="0"/>
              <a:t>Today;</a:t>
            </a:r>
          </a:p>
          <a:p>
            <a:pPr lvl="1"/>
            <a:r>
              <a:rPr lang="en-GB" dirty="0"/>
              <a:t>Discussions taken from the wider literature</a:t>
            </a:r>
          </a:p>
          <a:p>
            <a:pPr lvl="1"/>
            <a:r>
              <a:rPr lang="en-GB" dirty="0"/>
              <a:t>Examples taken from personal experience or publication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8874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F042-6493-1260-2601-6A1C3B0E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Reproducibility in the computational sciences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5E566-159F-40A9-7513-401E8DB0B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has been heavily discussed in the field for at least two decades</a:t>
            </a:r>
          </a:p>
          <a:p>
            <a:r>
              <a:rPr lang="en-GB" dirty="0"/>
              <a:t>“Ten simple rules…” series in </a:t>
            </a:r>
            <a:r>
              <a:rPr lang="en-GB" dirty="0" err="1"/>
              <a:t>PLoS</a:t>
            </a:r>
            <a:r>
              <a:rPr lang="en-GB" dirty="0"/>
              <a:t> Computational Biology</a:t>
            </a:r>
          </a:p>
          <a:p>
            <a:r>
              <a:rPr lang="en-GB" dirty="0" err="1"/>
              <a:t>Sandve</a:t>
            </a:r>
            <a:r>
              <a:rPr lang="en-GB" dirty="0"/>
              <a:t> 2013, Osbourne 2014, </a:t>
            </a:r>
            <a:r>
              <a:rPr lang="en-GB" dirty="0" err="1"/>
              <a:t>Taschuk</a:t>
            </a:r>
            <a:r>
              <a:rPr lang="en-GB" dirty="0"/>
              <a:t> 2017, List 2017, Carey 2018, Gallagher 2024…. And others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709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BD4F-EB28-3FC2-46A7-D2FA1113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Principles </a:t>
            </a:r>
            <a:r>
              <a:rPr lang="en-GB"/>
              <a:t>and pragmatism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C3DD5-F292-17CC-0A82-F7765989E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dirty="0"/>
              <a:t>“We want to emphasize that </a:t>
            </a:r>
            <a:r>
              <a:rPr lang="en-GB" b="1" i="1" dirty="0"/>
              <a:t>reproducibility is not only a moral responsibility with respect to the scientific field</a:t>
            </a:r>
            <a:r>
              <a:rPr lang="en-GB" i="1" dirty="0"/>
              <a:t>, but that a lack of reproducibility </a:t>
            </a:r>
            <a:r>
              <a:rPr lang="en-GB" b="1" i="1" dirty="0"/>
              <a:t>can also </a:t>
            </a:r>
            <a:r>
              <a:rPr lang="en-GB" i="1" dirty="0"/>
              <a:t>be a burden for you as an individual researcher”</a:t>
            </a:r>
          </a:p>
          <a:p>
            <a:pPr lvl="1"/>
            <a:r>
              <a:rPr lang="en-GB" dirty="0" err="1"/>
              <a:t>Sandve</a:t>
            </a:r>
            <a:r>
              <a:rPr lang="en-GB" dirty="0"/>
              <a:t> 2013</a:t>
            </a:r>
          </a:p>
          <a:p>
            <a:r>
              <a:rPr lang="en-GB" dirty="0"/>
              <a:t>Computational science can be held to a higher standard than experimental sciences</a:t>
            </a:r>
          </a:p>
          <a:p>
            <a:pPr lvl="1"/>
            <a:r>
              <a:rPr lang="en-GB" dirty="0"/>
              <a:t>Everything (bar hardware) can be shared</a:t>
            </a:r>
          </a:p>
          <a:p>
            <a:r>
              <a:rPr lang="en-GB" dirty="0"/>
              <a:t>Some life scientists have not always engaged in this view</a:t>
            </a:r>
          </a:p>
          <a:p>
            <a:pPr lvl="1"/>
            <a:r>
              <a:rPr lang="en-GB" dirty="0"/>
              <a:t>E.g. data and materials for authorship</a:t>
            </a:r>
          </a:p>
        </p:txBody>
      </p:sp>
    </p:spTree>
    <p:extLst>
      <p:ext uri="{BB962C8B-B14F-4D97-AF65-F5344CB8AC3E}">
        <p14:creationId xmlns:p14="http://schemas.microsoft.com/office/powerpoint/2010/main" val="72096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37D5-34D9-C874-E936-E1558265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Balance &amp;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C396D-6E65-A1E7-0DDC-141201FA3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Reproducibility and sharing does place a burden on the researcher</a:t>
            </a:r>
          </a:p>
          <a:p>
            <a:r>
              <a:rPr lang="en-GB" dirty="0"/>
              <a:t>Data sharing plans are routine</a:t>
            </a:r>
          </a:p>
          <a:p>
            <a:r>
              <a:rPr lang="en-GB" dirty="0"/>
              <a:t>Data storage needs to be costed and its use planned</a:t>
            </a:r>
          </a:p>
          <a:p>
            <a:pPr lvl="1"/>
            <a:r>
              <a:rPr lang="en-GB" dirty="0"/>
              <a:t>Images, raw whole genome data etc can be expensive</a:t>
            </a:r>
          </a:p>
          <a:p>
            <a:pPr lvl="1"/>
            <a:r>
              <a:rPr lang="en-GB" dirty="0"/>
              <a:t>This increases if intermediate results are included </a:t>
            </a:r>
          </a:p>
          <a:p>
            <a:pPr lvl="1"/>
            <a:endParaRPr lang="en-GB" dirty="0"/>
          </a:p>
          <a:p>
            <a:r>
              <a:rPr lang="en-GB" dirty="0"/>
              <a:t>As a researcher your expertise is part of your profile</a:t>
            </a:r>
          </a:p>
          <a:p>
            <a:r>
              <a:rPr lang="en-GB" dirty="0"/>
              <a:t>Ownership and intellectual property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6018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4DAB-1C01-82CC-B5A7-8A5B4E408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5233-CBD1-1501-BD98-E180D60D9E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AlphaFold trained from publicly shared datasets on models of protein structure </a:t>
            </a:r>
            <a:r>
              <a:rPr lang="en-GB"/>
              <a:t>dating from </a:t>
            </a:r>
            <a:r>
              <a:rPr lang="en-GB" dirty="0"/>
              <a:t>1970s</a:t>
            </a:r>
          </a:p>
          <a:p>
            <a:r>
              <a:rPr lang="en-GB" dirty="0"/>
              <a:t>More generally true of data hungry machine learning approaches</a:t>
            </a:r>
          </a:p>
          <a:p>
            <a:pPr lvl="1"/>
            <a:r>
              <a:rPr lang="en-GB" dirty="0"/>
              <a:t>ChatGPT trained on </a:t>
            </a:r>
            <a:r>
              <a:rPr lang="en-GB" dirty="0" err="1"/>
              <a:t>PLoS</a:t>
            </a:r>
            <a:r>
              <a:rPr lang="en-GB" dirty="0"/>
              <a:t> papers, enabled by permissive licenses</a:t>
            </a:r>
          </a:p>
          <a:p>
            <a:pPr lvl="1"/>
            <a:endParaRPr lang="en-GB" dirty="0"/>
          </a:p>
          <a:p>
            <a:r>
              <a:rPr lang="en-GB" dirty="0"/>
              <a:t>More important but less obvious- individual modelling and bioinformatics studies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AF22695-42B7-CF65-2374-313450A5840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520" y="1825625"/>
            <a:ext cx="383496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645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6D2E-CE3E-2593-A89C-E3741C93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8EC6-D1CA-80B9-C15F-A52080F99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90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5DE6-3243-3C1A-D543-F05AB3AE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failed reproducibility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2CE2E-E3C3-91B9-B30D-0D9537704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Distinction can be drawn between replication and reproducibility</a:t>
            </a:r>
          </a:p>
          <a:p>
            <a:endParaRPr lang="en-GB" dirty="0"/>
          </a:p>
          <a:p>
            <a:r>
              <a:rPr lang="en-GB" dirty="0"/>
              <a:t>Replication</a:t>
            </a:r>
          </a:p>
          <a:p>
            <a:pPr lvl="1"/>
            <a:r>
              <a:rPr lang="en-GB" dirty="0"/>
              <a:t>I do exactly what you did and get quantitively exactly the same output</a:t>
            </a:r>
          </a:p>
          <a:p>
            <a:pPr lvl="1"/>
            <a:endParaRPr lang="en-GB" dirty="0"/>
          </a:p>
          <a:p>
            <a:r>
              <a:rPr lang="en-GB" dirty="0"/>
              <a:t>Reproducibility </a:t>
            </a:r>
          </a:p>
          <a:p>
            <a:pPr lvl="1"/>
            <a:r>
              <a:rPr lang="en-GB" dirty="0"/>
              <a:t>I do something comparable and get qualitatively the same result</a:t>
            </a:r>
          </a:p>
        </p:txBody>
      </p:sp>
    </p:spTree>
    <p:extLst>
      <p:ext uri="{BB962C8B-B14F-4D97-AF65-F5344CB8AC3E}">
        <p14:creationId xmlns:p14="http://schemas.microsoft.com/office/powerpoint/2010/main" val="181311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001A6-0C06-AF85-2A2C-7EF4FA18D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4FA88-DEFB-A87C-37D2-EBF237051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Failure to replicate</a:t>
            </a:r>
          </a:p>
          <a:p>
            <a:pPr lvl="1"/>
            <a:r>
              <a:rPr lang="en-GB" dirty="0"/>
              <a:t>I ran molecular dynamics on the same system on computers with AMD or intel CPUs and they give different trajectories</a:t>
            </a:r>
          </a:p>
          <a:p>
            <a:pPr lvl="1"/>
            <a:endParaRPr lang="en-GB" dirty="0"/>
          </a:p>
          <a:p>
            <a:r>
              <a:rPr lang="en-GB" dirty="0"/>
              <a:t>Failure to reproduce</a:t>
            </a:r>
          </a:p>
          <a:p>
            <a:pPr lvl="1"/>
            <a:r>
              <a:rPr lang="en-GB" dirty="0"/>
              <a:t>I ran molecular dynamics on a protein with </a:t>
            </a:r>
            <a:r>
              <a:rPr lang="en-GB" dirty="0" err="1"/>
              <a:t>Gromacs</a:t>
            </a:r>
            <a:r>
              <a:rPr lang="en-GB" dirty="0"/>
              <a:t> and </a:t>
            </a:r>
            <a:r>
              <a:rPr lang="en-GB" dirty="0" err="1"/>
              <a:t>Charmm</a:t>
            </a:r>
            <a:r>
              <a:rPr lang="en-GB" dirty="0"/>
              <a:t>, and the protein unfolded with </a:t>
            </a:r>
            <a:r>
              <a:rPr lang="en-GB" dirty="0" err="1"/>
              <a:t>Charmm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Neither necessarily reflect that results from the calculation are flawed!</a:t>
            </a:r>
          </a:p>
        </p:txBody>
      </p:sp>
    </p:spTree>
    <p:extLst>
      <p:ext uri="{BB962C8B-B14F-4D97-AF65-F5344CB8AC3E}">
        <p14:creationId xmlns:p14="http://schemas.microsoft.com/office/powerpoint/2010/main" val="861700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DE81-6B2F-D9BA-51DE-FAF082DE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Failure to generalize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4F95A-D155-5241-6C55-BB496E32E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 more subtle problem in the biological sciences is the </a:t>
            </a:r>
            <a:r>
              <a:rPr lang="en-GB" i="1" dirty="0"/>
              <a:t>failure to generalize</a:t>
            </a:r>
          </a:p>
          <a:p>
            <a:endParaRPr lang="en-GB" i="1" dirty="0"/>
          </a:p>
          <a:p>
            <a:r>
              <a:rPr lang="en-GB" b="1" i="1" dirty="0"/>
              <a:t>Hypothetical example</a:t>
            </a:r>
          </a:p>
          <a:p>
            <a:endParaRPr lang="en-GB" b="1" i="1" dirty="0"/>
          </a:p>
          <a:p>
            <a:r>
              <a:rPr lang="en-GB" dirty="0"/>
              <a:t>Paper title: </a:t>
            </a:r>
            <a:r>
              <a:rPr lang="en-GB" i="1" dirty="0"/>
              <a:t>Mutant clones in normal epithelium outcompete and eliminate emerging tumours</a:t>
            </a:r>
          </a:p>
          <a:p>
            <a:pPr lvl="1"/>
            <a:r>
              <a:rPr lang="en-GB" i="1" dirty="0"/>
              <a:t>General, broad statement implying universality</a:t>
            </a:r>
          </a:p>
          <a:p>
            <a:r>
              <a:rPr lang="en-GB" dirty="0"/>
              <a:t>Paper data: Mouse model of aging, computational analysis &amp; modelling</a:t>
            </a:r>
          </a:p>
          <a:p>
            <a:pPr lvl="1"/>
            <a:r>
              <a:rPr lang="en-GB" i="1" dirty="0"/>
              <a:t>Specific, limited though related to human data</a:t>
            </a:r>
          </a:p>
          <a:p>
            <a:endParaRPr lang="en-GB" dirty="0"/>
          </a:p>
          <a:p>
            <a:r>
              <a:rPr lang="en-GB" dirty="0"/>
              <a:t>If I repeat it with a new mouse strain, or a different approach to modelling aging, this a failure to generalize (title) but does not contradict the data</a:t>
            </a:r>
          </a:p>
          <a:p>
            <a:r>
              <a:rPr lang="en-GB" dirty="0"/>
              <a:t>Biology as a science of the specific- bespoke experiments that talk to single systems </a:t>
            </a:r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81267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A25DD-9E03-192F-B011-67EB98B2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principles of reproducible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66FB6-305D-9035-573F-BB34094AD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Only commonly agreed listed; many more available</a:t>
            </a:r>
          </a:p>
          <a:p>
            <a:endParaRPr lang="en-GB" dirty="0"/>
          </a:p>
          <a:p>
            <a:r>
              <a:rPr lang="en-GB" dirty="0"/>
              <a:t>Code and data sharing under permissive licenses</a:t>
            </a:r>
          </a:p>
          <a:p>
            <a:r>
              <a:rPr lang="en-GB" dirty="0"/>
              <a:t>Documentation &amp; revision control</a:t>
            </a:r>
          </a:p>
          <a:p>
            <a:r>
              <a:rPr lang="en-GB" dirty="0"/>
              <a:t>Toolchain recording</a:t>
            </a:r>
          </a:p>
          <a:p>
            <a:r>
              <a:rPr lang="en-GB" dirty="0"/>
              <a:t>Tests</a:t>
            </a:r>
          </a:p>
        </p:txBody>
      </p:sp>
    </p:spTree>
    <p:extLst>
      <p:ext uri="{BB962C8B-B14F-4D97-AF65-F5344CB8AC3E}">
        <p14:creationId xmlns:p14="http://schemas.microsoft.com/office/powerpoint/2010/main" val="1535780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A16C-C033-820A-A116-C2EBEC10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&amp; data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6ED0-820C-DDEE-C627-7DD9300E8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I can rerun your code and get the same output</a:t>
            </a:r>
          </a:p>
          <a:p>
            <a:endParaRPr lang="en-GB" dirty="0"/>
          </a:p>
          <a:p>
            <a:r>
              <a:rPr lang="en-GB" dirty="0"/>
              <a:t>I can adapt your code and data to my problem</a:t>
            </a:r>
          </a:p>
        </p:txBody>
      </p:sp>
    </p:spTree>
    <p:extLst>
      <p:ext uri="{BB962C8B-B14F-4D97-AF65-F5344CB8AC3E}">
        <p14:creationId xmlns:p14="http://schemas.microsoft.com/office/powerpoint/2010/main" val="1686506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1CD9-A105-603A-1597-2E386B39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Documentation and revision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B5AE1-C36B-0696-5B33-580145B9E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I can understand how your code is expected to work, and your choices in implementation</a:t>
            </a:r>
          </a:p>
          <a:p>
            <a:endParaRPr lang="en-GB" dirty="0"/>
          </a:p>
          <a:p>
            <a:r>
              <a:rPr lang="en-GB" dirty="0"/>
              <a:t>I can modify and extend the code knowing how different components are expected to run</a:t>
            </a:r>
          </a:p>
          <a:p>
            <a:r>
              <a:rPr lang="en-GB" dirty="0"/>
              <a:t>I can find where bugs were introduced and why</a:t>
            </a:r>
          </a:p>
        </p:txBody>
      </p:sp>
    </p:spTree>
    <p:extLst>
      <p:ext uri="{BB962C8B-B14F-4D97-AF65-F5344CB8AC3E}">
        <p14:creationId xmlns:p14="http://schemas.microsoft.com/office/powerpoint/2010/main" val="3382388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FE0DE-C1FF-3853-AEFE-F2627FF2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Toolchain recording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EBF63-8F34-379D-6D54-4E6879E53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I can see what external software and hardware you used when running your code</a:t>
            </a:r>
          </a:p>
          <a:p>
            <a:endParaRPr lang="en-GB" dirty="0"/>
          </a:p>
          <a:p>
            <a:r>
              <a:rPr lang="en-GB" dirty="0"/>
              <a:t>I can ensure that I use the same to maximise the chances of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848897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A7D7-E9B9-2EEB-2033-37FDF782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0D9D4-BE7C-709D-9C3B-0350829C2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I can confirm a known result is calculated correctly from individual subroutines</a:t>
            </a:r>
          </a:p>
          <a:p>
            <a:endParaRPr lang="en-GB" dirty="0"/>
          </a:p>
          <a:p>
            <a:r>
              <a:rPr lang="en-GB" dirty="0"/>
              <a:t>If I reimplement, I can confirm that I’ve not broken specified behaviour</a:t>
            </a:r>
          </a:p>
          <a:p>
            <a:r>
              <a:rPr lang="en-GB" dirty="0"/>
              <a:t>If I find a condition where the function is wrong, I can add a test that reflects the condition and use it to confirm I’ve fixed the bug</a:t>
            </a:r>
          </a:p>
        </p:txBody>
      </p:sp>
    </p:spTree>
    <p:extLst>
      <p:ext uri="{BB962C8B-B14F-4D97-AF65-F5344CB8AC3E}">
        <p14:creationId xmlns:p14="http://schemas.microsoft.com/office/powerpoint/2010/main" val="3749527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9145-98E0-AFFD-2484-D1745551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Barriers to sharing &amp; reproducibility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DDDEE-B055-0B7E-8E00-AE5535930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sensitivity &amp; consent</a:t>
            </a:r>
          </a:p>
          <a:p>
            <a:r>
              <a:rPr lang="en-GB" dirty="0"/>
              <a:t>Culture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7684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2558-D7FB-CA71-6633-72F3BFA0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sensitivity, consent, and GDPR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A71E-E4C1-9613-DB07-35ADCDEC2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derived from humans is sensitive; personal data especially (genomic sequencing)</a:t>
            </a:r>
          </a:p>
          <a:p>
            <a:r>
              <a:rPr lang="en-GB" dirty="0"/>
              <a:t>Individuals may give limited consent</a:t>
            </a:r>
          </a:p>
          <a:p>
            <a:pPr lvl="1"/>
            <a:r>
              <a:rPr lang="en-GB" dirty="0"/>
              <a:t>Blood sequencing genomic dataset that can only be used for aging</a:t>
            </a:r>
          </a:p>
          <a:p>
            <a:r>
              <a:rPr lang="en-GB" dirty="0"/>
              <a:t>This has implications for sharing and processing</a:t>
            </a:r>
          </a:p>
          <a:p>
            <a:pPr lvl="1"/>
            <a:r>
              <a:rPr lang="en-GB" dirty="0"/>
              <a:t>Specific security requirements</a:t>
            </a:r>
          </a:p>
          <a:p>
            <a:pPr lvl="1"/>
            <a:endParaRPr lang="en-GB" dirty="0"/>
          </a:p>
          <a:p>
            <a:r>
              <a:rPr lang="en-GB" dirty="0"/>
              <a:t>New approaches (GEL and others)- trusted research environments allow users to access data under control </a:t>
            </a:r>
          </a:p>
        </p:txBody>
      </p:sp>
    </p:spTree>
    <p:extLst>
      <p:ext uri="{BB962C8B-B14F-4D97-AF65-F5344CB8AC3E}">
        <p14:creationId xmlns:p14="http://schemas.microsoft.com/office/powerpoint/2010/main" val="1466392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8862-FF2E-0462-478A-D68F0801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Cultural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64775-5F47-8CFE-7153-7E7925583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and code are extremely portable</a:t>
            </a:r>
          </a:p>
          <a:p>
            <a:endParaRPr lang="en-GB" dirty="0"/>
          </a:p>
          <a:p>
            <a:r>
              <a:rPr lang="en-GB" dirty="0"/>
              <a:t>Culture in biological sciences is in transition</a:t>
            </a:r>
          </a:p>
          <a:p>
            <a:pPr lvl="1"/>
            <a:r>
              <a:rPr lang="en-GB" dirty="0"/>
              <a:t>“data parasites”</a:t>
            </a:r>
          </a:p>
          <a:p>
            <a:pPr lvl="1"/>
            <a:endParaRPr lang="en-GB" dirty="0"/>
          </a:p>
          <a:p>
            <a:r>
              <a:rPr lang="en-GB" dirty="0"/>
              <a:t>Fundamentally- an argument needed to be led by scientists and funders</a:t>
            </a:r>
          </a:p>
          <a:p>
            <a:pPr lvl="1"/>
            <a:r>
              <a:rPr lang="en-GB" dirty="0"/>
              <a:t>How do you enforce compliance with a principle? How much is enough?</a:t>
            </a:r>
          </a:p>
          <a:p>
            <a:pPr lvl="1"/>
            <a:r>
              <a:rPr lang="en-GB" dirty="0"/>
              <a:t>How to deal with missing data?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629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8249-96F8-4590-2B8A-8753E70B4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5F41A-4604-9E36-F7D5-052B8F1CF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002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5441-E3D6-8849-FCC6-84047A28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contrarian take: reproducibility failures can be an instructive and natural part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6F93B-BC7B-DCF5-9663-4BDFAFA2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I share my whole tool chain, you should be able to replicate my results exactly</a:t>
            </a:r>
          </a:p>
          <a:p>
            <a:r>
              <a:rPr lang="en-GB" dirty="0"/>
              <a:t>This is substantially easier in computational science compared to experimental science</a:t>
            </a:r>
          </a:p>
          <a:p>
            <a:endParaRPr lang="en-GB" dirty="0"/>
          </a:p>
          <a:p>
            <a:r>
              <a:rPr lang="en-GB" dirty="0"/>
              <a:t>Where parts of a workflow are unclear, they need to be rediscovered</a:t>
            </a:r>
          </a:p>
          <a:p>
            <a:r>
              <a:rPr lang="en-GB" dirty="0"/>
              <a:t>If the result is dependent on one component, this speaks to the robustness of the results and points to a previously unstated role</a:t>
            </a:r>
          </a:p>
        </p:txBody>
      </p:sp>
    </p:spTree>
    <p:extLst>
      <p:ext uri="{BB962C8B-B14F-4D97-AF65-F5344CB8AC3E}">
        <p14:creationId xmlns:p14="http://schemas.microsoft.com/office/powerpoint/2010/main" val="151515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608DB-5EEF-3A36-5262-7E669377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dataset, two metabolomics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FE17C-0599-E53E-2CF5-80F64582B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Shorthouse et al and Cherkaoui et al 2022 (Molecular Systems Biology) both analysed the same raw data on cancer cell line metabolomics</a:t>
            </a:r>
          </a:p>
          <a:p>
            <a:r>
              <a:rPr lang="en-GB" dirty="0"/>
              <a:t>Each paper gives unique insights</a:t>
            </a:r>
          </a:p>
          <a:p>
            <a:pPr lvl="1"/>
            <a:r>
              <a:rPr lang="en-GB" dirty="0"/>
              <a:t>Shorthouse shows the relationship between gene variants and specific metabolic signatures, and integrates with other omics datasets to link e.g. drug sensitivities to metabolic state</a:t>
            </a:r>
          </a:p>
          <a:p>
            <a:pPr lvl="1"/>
            <a:r>
              <a:rPr lang="en-GB" dirty="0"/>
              <a:t>Cherkaoui finds two populations of metabolic types related to the epithelial mesenchymal transition, key in metastasis</a:t>
            </a:r>
          </a:p>
        </p:txBody>
      </p:sp>
    </p:spTree>
    <p:extLst>
      <p:ext uri="{BB962C8B-B14F-4D97-AF65-F5344CB8AC3E}">
        <p14:creationId xmlns:p14="http://schemas.microsoft.com/office/powerpoint/2010/main" val="558698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315C-5477-6D3F-C5FC-BA75DA11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dataset, two processing approaches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AD5E1-4707-BB0A-F59A-261F2F0D1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Each paper processed the same raw data and validate their data in a different way</a:t>
            </a:r>
          </a:p>
          <a:p>
            <a:endParaRPr lang="en-GB" dirty="0"/>
          </a:p>
          <a:p>
            <a:r>
              <a:rPr lang="en-GB" dirty="0"/>
              <a:t>Shorthouse used a common workflow, normalising for cell size &amp; confluency, plus filtering aberrant metabolites, and validated by looking for patterns and relationships observed in other published metabolomics datasets</a:t>
            </a:r>
          </a:p>
          <a:p>
            <a:pPr lvl="1"/>
            <a:r>
              <a:rPr lang="en-GB" dirty="0"/>
              <a:t>IDH mutation and metabolite accumulation</a:t>
            </a:r>
          </a:p>
          <a:p>
            <a:pPr lvl="1"/>
            <a:r>
              <a:rPr lang="en-GB" dirty="0"/>
              <a:t>Distribution shape</a:t>
            </a:r>
          </a:p>
          <a:p>
            <a:pPr lvl="1"/>
            <a:endParaRPr lang="en-GB" dirty="0"/>
          </a:p>
          <a:p>
            <a:r>
              <a:rPr lang="en-GB" dirty="0"/>
              <a:t>Cherkaoui applied multiple different workflows, and used a scoring approach based on common bioinformatics guidelines</a:t>
            </a:r>
          </a:p>
        </p:txBody>
      </p:sp>
    </p:spTree>
    <p:extLst>
      <p:ext uri="{BB962C8B-B14F-4D97-AF65-F5344CB8AC3E}">
        <p14:creationId xmlns:p14="http://schemas.microsoft.com/office/powerpoint/2010/main" val="658021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4284-3AF6-A869-C74B-7B7546763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Interpretations are dependent 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0602B-0E2A-AA60-068D-B9B0CE3DC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Results from both papers do not reproduce completely on the alternative processing</a:t>
            </a:r>
          </a:p>
          <a:p>
            <a:pPr lvl="1"/>
            <a:r>
              <a:rPr lang="en-GB" dirty="0"/>
              <a:t>Not absent, but individual tests are below significance</a:t>
            </a:r>
          </a:p>
          <a:p>
            <a:pPr lvl="1"/>
            <a:endParaRPr lang="en-GB" dirty="0"/>
          </a:p>
          <a:p>
            <a:r>
              <a:rPr lang="en-GB" dirty="0"/>
              <a:t>Validations for Shorthouse based on other datasets (unimodality, known variant-metabolite relationships) unsuccessful for Cherkaoui; Shorthouse processing considered but rejected in Cherkaoui due to low score</a:t>
            </a:r>
          </a:p>
        </p:txBody>
      </p:sp>
    </p:spTree>
    <p:extLst>
      <p:ext uri="{BB962C8B-B14F-4D97-AF65-F5344CB8AC3E}">
        <p14:creationId xmlns:p14="http://schemas.microsoft.com/office/powerpoint/2010/main" val="671325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B65E-63E6-55BD-9DA5-D6735E81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3B0F4-0EF0-E7EC-DA95-C23BE5230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0959" y="1825625"/>
            <a:ext cx="8770081" cy="4351338"/>
          </a:xfrm>
        </p:spPr>
      </p:pic>
    </p:spTree>
    <p:extLst>
      <p:ext uri="{BB962C8B-B14F-4D97-AF65-F5344CB8AC3E}">
        <p14:creationId xmlns:p14="http://schemas.microsoft.com/office/powerpoint/2010/main" val="872943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E1A8-2F51-5F34-3365-1F0FDD99A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45466F-262E-1CEF-427B-CEB3F2EE8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2207" y="1825625"/>
            <a:ext cx="6267586" cy="4351338"/>
          </a:xfrm>
        </p:spPr>
      </p:pic>
    </p:spTree>
    <p:extLst>
      <p:ext uri="{BB962C8B-B14F-4D97-AF65-F5344CB8AC3E}">
        <p14:creationId xmlns:p14="http://schemas.microsoft.com/office/powerpoint/2010/main" val="1546626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F9F61-4149-2B45-9A93-B2F2A185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F078E-23DD-5CFF-7DB7-D5222BD5D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89A9E-0695-667B-5271-B2BADF9FB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683" y="0"/>
            <a:ext cx="7880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56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5DAA-CFD0-0BAD-ECC6-635E101E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But which one is right?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7D8B9-CEA9-2F7F-1F24-697DAE198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Both and neither; the divergence reveals that the choice of workflow is important</a:t>
            </a:r>
          </a:p>
          <a:p>
            <a:endParaRPr lang="en-GB" dirty="0"/>
          </a:p>
          <a:p>
            <a:r>
              <a:rPr lang="en-GB" dirty="0"/>
              <a:t>Neither approach is straightforwardly wrong; each workflow is acceptable</a:t>
            </a:r>
          </a:p>
          <a:p>
            <a:endParaRPr lang="en-GB" dirty="0"/>
          </a:p>
          <a:p>
            <a:r>
              <a:rPr lang="en-GB" dirty="0"/>
              <a:t>An important corollary to the acknowledged importance of reproducibility; failure to reproduce might reflect incomplete knowledge rather than incompetence or dishonesty</a:t>
            </a:r>
          </a:p>
          <a:p>
            <a:r>
              <a:rPr lang="en-GB" dirty="0"/>
              <a:t>Discovering our ignorance is part of research!</a:t>
            </a:r>
          </a:p>
        </p:txBody>
      </p:sp>
    </p:spTree>
    <p:extLst>
      <p:ext uri="{BB962C8B-B14F-4D97-AF65-F5344CB8AC3E}">
        <p14:creationId xmlns:p14="http://schemas.microsoft.com/office/powerpoint/2010/main" val="51198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6A36-B598-0FB2-EAE0-EA476AF2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Disagreement is not necessarily rooted in a failure in reproducibility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6E2EC-577A-FCC9-B1D8-32AF67D07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structure of the stem cell population in squamous epithelia</a:t>
            </a:r>
          </a:p>
          <a:p>
            <a:pPr lvl="1"/>
            <a:r>
              <a:rPr lang="en-GB" dirty="0"/>
              <a:t>Piedrafita 2020, Nature communications</a:t>
            </a:r>
          </a:p>
          <a:p>
            <a:r>
              <a:rPr lang="en-GB" dirty="0"/>
              <a:t>Single progenitor vs hierarchical models ongoing debate in literature</a:t>
            </a:r>
          </a:p>
          <a:p>
            <a:endParaRPr lang="en-GB" dirty="0"/>
          </a:p>
          <a:p>
            <a:r>
              <a:rPr lang="en-GB" dirty="0"/>
              <a:t>1960s- stochastic fate determination (Le Blond)</a:t>
            </a:r>
          </a:p>
          <a:p>
            <a:r>
              <a:rPr lang="en-GB" dirty="0"/>
              <a:t>1990s- hierarchical model of slow cycling stem cells and transient amplifying cells (Jones, Watts)</a:t>
            </a:r>
          </a:p>
          <a:p>
            <a:r>
              <a:rPr lang="en-GB" dirty="0"/>
              <a:t>2010s- single progenitor model (Jones, Simons) </a:t>
            </a:r>
          </a:p>
          <a:p>
            <a:r>
              <a:rPr lang="en-GB" dirty="0"/>
              <a:t>2020s- hierarchical models (Simons, </a:t>
            </a:r>
            <a:r>
              <a:rPr lang="en-GB" dirty="0" err="1"/>
              <a:t>Blainpain</a:t>
            </a:r>
            <a:r>
              <a:rPr lang="en-GB" dirty="0"/>
              <a:t>) and single progenitor (Hall, Klein, Jones, Greco)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3224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63A7-3145-3149-9082-C586E8ED2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FFD2538D-6D73-39B2-ED59-2902521631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52"/>
          <a:stretch/>
        </p:blipFill>
        <p:spPr bwMode="auto">
          <a:xfrm>
            <a:off x="838200" y="2242946"/>
            <a:ext cx="10515600" cy="351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549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F097-531B-0BC5-9D1D-89D41334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1B309-1F85-E7C5-6AB4-8F74E0FB6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Hierarchy</a:t>
            </a:r>
          </a:p>
          <a:p>
            <a:pPr lvl="1"/>
            <a:r>
              <a:rPr lang="en-GB" dirty="0"/>
              <a:t>Histone dilution experiments reveal “label retaining cells” that remain bright whilst other cells divide</a:t>
            </a:r>
          </a:p>
          <a:p>
            <a:pPr lvl="1"/>
            <a:r>
              <a:rPr lang="en-GB" dirty="0"/>
              <a:t>Small numbers of surviving clones over time</a:t>
            </a:r>
          </a:p>
          <a:p>
            <a:pPr lvl="1"/>
            <a:r>
              <a:rPr lang="en-GB" dirty="0"/>
              <a:t>Recently- clone size distributions</a:t>
            </a:r>
          </a:p>
          <a:p>
            <a:pPr lvl="1"/>
            <a:endParaRPr lang="en-GB" dirty="0"/>
          </a:p>
          <a:p>
            <a:r>
              <a:rPr lang="en-GB" dirty="0"/>
              <a:t>Single progenitor</a:t>
            </a:r>
          </a:p>
          <a:p>
            <a:pPr lvl="1"/>
            <a:r>
              <a:rPr lang="en-GB" dirty="0"/>
              <a:t>Linear growth in average clone size over time</a:t>
            </a:r>
          </a:p>
          <a:p>
            <a:pPr lvl="1"/>
            <a:r>
              <a:rPr lang="en-GB" dirty="0"/>
              <a:t>Histone dilution experiments with antibodies to label immune cells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3377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AEFF-C1A4-7A67-8B65-5CEBE372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8914-8A7E-C1A9-B80D-8570DD9A4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Hierarchical models have historically been deterministic</a:t>
            </a:r>
          </a:p>
          <a:p>
            <a:pPr lvl="1"/>
            <a:r>
              <a:rPr lang="en-GB" dirty="0"/>
              <a:t>Though recent are not</a:t>
            </a:r>
          </a:p>
          <a:p>
            <a:r>
              <a:rPr lang="en-GB" dirty="0"/>
              <a:t>Deterministic models incompatible with linear growth in average clone sizes</a:t>
            </a:r>
          </a:p>
          <a:p>
            <a:r>
              <a:rPr lang="en-GB" dirty="0"/>
              <a:t>Introduction of stochasticity fundamental in enabling single progenitor models</a:t>
            </a:r>
          </a:p>
          <a:p>
            <a:endParaRPr lang="en-GB" dirty="0"/>
          </a:p>
          <a:p>
            <a:r>
              <a:rPr lang="en-GB" dirty="0"/>
              <a:t>More recent discussions focused on early time points</a:t>
            </a:r>
          </a:p>
          <a:p>
            <a:pPr lvl="1"/>
            <a:r>
              <a:rPr lang="en-GB" dirty="0"/>
              <a:t>But- sensitive to choice in cell cycle time distributions</a:t>
            </a:r>
          </a:p>
          <a:p>
            <a:pPr lvl="1"/>
            <a:r>
              <a:rPr lang="en-GB" dirty="0"/>
              <a:t>Like-for-like comparisons show similar performance between single/hierarchical models</a:t>
            </a:r>
          </a:p>
        </p:txBody>
      </p:sp>
    </p:spTree>
    <p:extLst>
      <p:ext uri="{BB962C8B-B14F-4D97-AF65-F5344CB8AC3E}">
        <p14:creationId xmlns:p14="http://schemas.microsoft.com/office/powerpoint/2010/main" val="31123721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2D8C-580F-1E90-5272-53C490673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Disagreement </a:t>
            </a:r>
            <a:r>
              <a:rPr lang="en-GB" i="1" dirty="0"/>
              <a:t>can</a:t>
            </a:r>
            <a:r>
              <a:rPr lang="en-GB" dirty="0"/>
              <a:t> be founded in a failure to reproduce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A5154-3F79-45BD-8500-8DB8F0E2E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Label retaining cells are immune infiltrates, so we cannot reproduce that observation</a:t>
            </a:r>
          </a:p>
          <a:p>
            <a:pPr lvl="1"/>
            <a:r>
              <a:rPr lang="en-GB" dirty="0"/>
              <a:t>We cannot find any evidence of a slow dividing population</a:t>
            </a:r>
          </a:p>
          <a:p>
            <a:r>
              <a:rPr lang="en-GB" dirty="0" err="1"/>
              <a:t>Heirarchical</a:t>
            </a:r>
            <a:r>
              <a:rPr lang="en-GB" dirty="0"/>
              <a:t> and single progenitor models both explain clone size distributions comparably with similar cell-cycle time distributions</a:t>
            </a:r>
          </a:p>
          <a:p>
            <a:pPr lvl="1"/>
            <a:r>
              <a:rPr lang="en-GB" dirty="0"/>
              <a:t>SP more parsimonious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0514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F914-30E4-5FE2-44E0-EC174CA3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079E-9784-9ADB-6143-B98ADE2E8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122" name="Picture 2" descr="Fig. 3">
            <a:extLst>
              <a:ext uri="{FF2B5EF4-FFF2-40B4-BE49-F238E27FC236}">
                <a16:creationId xmlns:a16="http://schemas.microsoft.com/office/drawing/2014/main" id="{3A7A2058-E746-0816-13FB-5A67260C3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315" b="81111"/>
          <a:stretch/>
        </p:blipFill>
        <p:spPr bwMode="auto">
          <a:xfrm>
            <a:off x="2695947" y="2279650"/>
            <a:ext cx="6492503" cy="292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2768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22D3-0786-1E53-52AD-A74AB7A3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9BC7F-38A9-9417-A1C5-AF12615A0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050" name="Picture 2" descr="Fig. 3">
            <a:extLst>
              <a:ext uri="{FF2B5EF4-FFF2-40B4-BE49-F238E27FC236}">
                <a16:creationId xmlns:a16="http://schemas.microsoft.com/office/drawing/2014/main" id="{D20B27D8-23CA-464B-C516-BBE6AB6FF9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" t="48797" r="4030" b="27777"/>
          <a:stretch/>
        </p:blipFill>
        <p:spPr bwMode="auto">
          <a:xfrm>
            <a:off x="1143000" y="81171"/>
            <a:ext cx="9484260" cy="322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g. 3">
            <a:extLst>
              <a:ext uri="{FF2B5EF4-FFF2-40B4-BE49-F238E27FC236}">
                <a16:creationId xmlns:a16="http://schemas.microsoft.com/office/drawing/2014/main" id="{30C1E880-0072-8037-436E-5878E7F456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7" r="30856" b="53981"/>
          <a:stretch/>
        </p:blipFill>
        <p:spPr bwMode="auto">
          <a:xfrm>
            <a:off x="2945962" y="3302000"/>
            <a:ext cx="6731876" cy="35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099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AB0F2-37F9-3389-CF1E-23F58D1E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 descr="Fig. 3">
            <a:extLst>
              <a:ext uri="{FF2B5EF4-FFF2-40B4-BE49-F238E27FC236}">
                <a16:creationId xmlns:a16="http://schemas.microsoft.com/office/drawing/2014/main" id="{430FBFEC-0173-F128-012F-7139703657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66" t="19920" b="52061"/>
          <a:stretch/>
        </p:blipFill>
        <p:spPr bwMode="auto">
          <a:xfrm>
            <a:off x="1073150" y="2039308"/>
            <a:ext cx="3218674" cy="381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4B9B9E-38C9-BBB3-2690-98AB8177C1D7}"/>
              </a:ext>
            </a:extLst>
          </p:cNvPr>
          <p:cNvSpPr txBox="1"/>
          <p:nvPr/>
        </p:nvSpPr>
        <p:spPr>
          <a:xfrm>
            <a:off x="5911850" y="4095750"/>
            <a:ext cx="532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Samples caught mid-division (separated by ½ intensity)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3A6330-93D7-6E36-EA20-65CEAAB82AAA}"/>
              </a:ext>
            </a:extLst>
          </p:cNvPr>
          <p:cNvCxnSpPr>
            <a:stCxn id="4" idx="1"/>
          </p:cNvCxnSpPr>
          <p:nvPr/>
        </p:nvCxnSpPr>
        <p:spPr>
          <a:xfrm flipH="1">
            <a:off x="2819400" y="4280416"/>
            <a:ext cx="309245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1753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7584-F78B-329A-AFC7-A12C1E7D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ways to fail to replicate/reproduce…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AB083-71EB-3544-77EA-C57FFBFC7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Physical simulations are frequently chaotic; sorting of lists influences the outcome of summing and can lead to trajectory divergence</a:t>
            </a:r>
          </a:p>
          <a:p>
            <a:pPr lvl="1"/>
            <a:r>
              <a:rPr lang="en-GB" dirty="0"/>
              <a:t>Hall et al 2014 Biophysical Journal</a:t>
            </a:r>
          </a:p>
          <a:p>
            <a:pPr lvl="1"/>
            <a:endParaRPr lang="en-GB" dirty="0"/>
          </a:p>
          <a:p>
            <a:r>
              <a:rPr lang="en-GB" dirty="0"/>
              <a:t>“Minor” subroutine updates alter outcome of normal mode analysis in </a:t>
            </a:r>
            <a:r>
              <a:rPr lang="en-GB" dirty="0" err="1"/>
              <a:t>Charmm</a:t>
            </a:r>
            <a:r>
              <a:rPr lang="en-GB" dirty="0"/>
              <a:t> (not published…)</a:t>
            </a:r>
          </a:p>
          <a:p>
            <a:endParaRPr lang="en-GB" dirty="0"/>
          </a:p>
          <a:p>
            <a:r>
              <a:rPr lang="en-GB" dirty="0"/>
              <a:t>CPUs with different manufacturers in one cluster fit different numbers of water molecules into box</a:t>
            </a:r>
          </a:p>
          <a:p>
            <a:pPr lvl="1"/>
            <a:r>
              <a:rPr lang="en-GB" dirty="0"/>
              <a:t>Hall et al 2018 JCTC</a:t>
            </a:r>
          </a:p>
        </p:txBody>
      </p:sp>
    </p:spTree>
    <p:extLst>
      <p:ext uri="{BB962C8B-B14F-4D97-AF65-F5344CB8AC3E}">
        <p14:creationId xmlns:p14="http://schemas.microsoft.com/office/powerpoint/2010/main" val="20496307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5668-7018-19C5-42F8-70FE88F6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869DE-79C7-484E-DB2C-E97497903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209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AF4C-5366-488B-DF91-413E57037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607E6-12B7-7EEA-1A04-370F8C55B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1462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3DDC-78C4-0BB9-1DE2-C7300E60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2B703-DA0F-4418-BF98-AA7193FD6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Reproducibility in science is an active discussion, with costs and benefits</a:t>
            </a:r>
          </a:p>
          <a:p>
            <a:r>
              <a:rPr lang="en-GB" dirty="0"/>
              <a:t>Integrating the insights of others requires active analysis of their work for confidence</a:t>
            </a:r>
          </a:p>
        </p:txBody>
      </p:sp>
    </p:spTree>
    <p:extLst>
      <p:ext uri="{BB962C8B-B14F-4D97-AF65-F5344CB8AC3E}">
        <p14:creationId xmlns:p14="http://schemas.microsoft.com/office/powerpoint/2010/main" val="17109516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3254-2C19-DD2C-E447-BF6F633C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2DA3F-FC6D-4AAE-CB39-D48D3DFAF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144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451F-BB46-7CE0-F314-1C618FA9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C8BCE-3C40-9F21-493A-7AB13F1BF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Revision control systems (git)</a:t>
            </a:r>
          </a:p>
          <a:p>
            <a:r>
              <a:rPr lang="en-GB" dirty="0"/>
              <a:t>Continuous integration</a:t>
            </a:r>
          </a:p>
          <a:p>
            <a:r>
              <a:rPr lang="en-GB" dirty="0"/>
              <a:t>Environments (</a:t>
            </a:r>
            <a:r>
              <a:rPr lang="en-GB" dirty="0" err="1"/>
              <a:t>conda</a:t>
            </a:r>
            <a:r>
              <a:rPr lang="en-GB" dirty="0"/>
              <a:t>, docker)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8104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4231-0E32-C4A4-4FC6-1F545962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Revision control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02E3C-B4E1-E940-00BF-D4F319080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Git, SVN, RCS, mercurial…</a:t>
            </a:r>
          </a:p>
          <a:p>
            <a:r>
              <a:rPr lang="en-GB" dirty="0"/>
              <a:t>Fundamentally all log changes in code over time, usually with annotation</a:t>
            </a:r>
          </a:p>
          <a:p>
            <a:r>
              <a:rPr lang="en-GB" dirty="0"/>
              <a:t>Assist in collaborative code development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40601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837C8-C758-C09C-4940-11D627A9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78E57-6078-D375-BA69-7A60EBB8C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Make folder a git repository</a:t>
            </a:r>
          </a:p>
          <a:p>
            <a:pPr lvl="1"/>
            <a:r>
              <a:rPr lang="en-GB" dirty="0"/>
              <a:t>git </a:t>
            </a:r>
            <a:r>
              <a:rPr lang="en-GB" dirty="0" err="1"/>
              <a:t>init</a:t>
            </a:r>
            <a:endParaRPr lang="en-GB" dirty="0"/>
          </a:p>
          <a:p>
            <a:r>
              <a:rPr lang="en-GB" dirty="0"/>
              <a:t>Add file in folder to git repository for tracking</a:t>
            </a:r>
          </a:p>
          <a:p>
            <a:pPr lvl="1"/>
            <a:r>
              <a:rPr lang="en-GB" dirty="0"/>
              <a:t>git add ReadMe.txt</a:t>
            </a:r>
          </a:p>
          <a:p>
            <a:r>
              <a:rPr lang="en-GB" dirty="0"/>
              <a:t>Log a set of changes</a:t>
            </a:r>
          </a:p>
          <a:p>
            <a:pPr lvl="1"/>
            <a:r>
              <a:rPr lang="en-GB" dirty="0"/>
              <a:t>git commit ReadMe.txt –m “Included notes on new CLI options”</a:t>
            </a:r>
          </a:p>
          <a:p>
            <a:r>
              <a:rPr lang="en-GB" dirty="0"/>
              <a:t>Copy local commits to remote repository</a:t>
            </a:r>
          </a:p>
          <a:p>
            <a:pPr lvl="1"/>
            <a:r>
              <a:rPr lang="en-GB" dirty="0"/>
              <a:t>git push</a:t>
            </a:r>
          </a:p>
          <a:p>
            <a:r>
              <a:rPr lang="en-GB" dirty="0"/>
              <a:t>Copy remote repository commits locally and combine them (</a:t>
            </a:r>
            <a:r>
              <a:rPr lang="en-GB" i="1" dirty="0"/>
              <a:t>merge</a:t>
            </a:r>
            <a:r>
              <a:rPr lang="en-GB" dirty="0"/>
              <a:t>) with local changes</a:t>
            </a:r>
          </a:p>
          <a:p>
            <a:pPr lvl="1"/>
            <a:r>
              <a:rPr lang="en-GB" dirty="0"/>
              <a:t>git pull</a:t>
            </a:r>
          </a:p>
        </p:txBody>
      </p:sp>
    </p:spTree>
    <p:extLst>
      <p:ext uri="{BB962C8B-B14F-4D97-AF65-F5344CB8AC3E}">
        <p14:creationId xmlns:p14="http://schemas.microsoft.com/office/powerpoint/2010/main" val="25969601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E8EA-C267-99D9-E7F6-8AC9A5D9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Collaborative git/</a:t>
            </a:r>
            <a:r>
              <a:rPr lang="en-GB" dirty="0" err="1"/>
              <a:t>github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7418-D266-5EB5-D8E9-982202379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Forking</a:t>
            </a:r>
            <a:r>
              <a:rPr lang="en-GB" dirty="0"/>
              <a:t> a repository copies a remote repository so that you can make edits</a:t>
            </a:r>
          </a:p>
          <a:p>
            <a:pPr lvl="1"/>
            <a:r>
              <a:rPr lang="en-GB" dirty="0"/>
              <a:t>The new (</a:t>
            </a:r>
            <a:r>
              <a:rPr lang="en-GB" i="1" dirty="0"/>
              <a:t>forked)</a:t>
            </a:r>
            <a:r>
              <a:rPr lang="en-GB" dirty="0"/>
              <a:t> repository is linked to the original</a:t>
            </a:r>
          </a:p>
          <a:p>
            <a:r>
              <a:rPr lang="en-GB" dirty="0"/>
              <a:t>A </a:t>
            </a:r>
            <a:r>
              <a:rPr lang="en-GB" i="1" dirty="0"/>
              <a:t>pull request </a:t>
            </a:r>
            <a:r>
              <a:rPr lang="en-GB" dirty="0"/>
              <a:t>is made by the owner of a forked repository to the owner of the original repository, requesting that the original include the changes in the forked into their repo</a:t>
            </a:r>
          </a:p>
          <a:p>
            <a:pPr lvl="1"/>
            <a:r>
              <a:rPr lang="en-GB" dirty="0"/>
              <a:t>For example, I fork, I fix a bug or add functionality, test to show it works, commit and push my changes to my remote repo, and then make a pull request to the original owner</a:t>
            </a:r>
          </a:p>
        </p:txBody>
      </p:sp>
    </p:spTree>
    <p:extLst>
      <p:ext uri="{BB962C8B-B14F-4D97-AF65-F5344CB8AC3E}">
        <p14:creationId xmlns:p14="http://schemas.microsoft.com/office/powerpoint/2010/main" val="4153754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3373-9A9D-3B4E-71D1-89FD374FB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198C-AB98-201F-2F73-0E1EF28EB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code can be stored in a public repository but could depend on external libraries and programs</a:t>
            </a:r>
          </a:p>
          <a:p>
            <a:r>
              <a:rPr lang="en-GB" dirty="0"/>
              <a:t>These could be included as binaries with the repo, but more common is to include lists of packages to be installed using a </a:t>
            </a:r>
            <a:r>
              <a:rPr lang="en-GB" i="1" dirty="0"/>
              <a:t>package manager</a:t>
            </a:r>
          </a:p>
          <a:p>
            <a:pPr lvl="1"/>
            <a:r>
              <a:rPr lang="en-GB" dirty="0"/>
              <a:t>For python, this can be in pip or </a:t>
            </a:r>
            <a:r>
              <a:rPr lang="en-GB" dirty="0" err="1"/>
              <a:t>conda</a:t>
            </a:r>
            <a:endParaRPr lang="en-GB" dirty="0"/>
          </a:p>
          <a:p>
            <a:r>
              <a:rPr lang="en-GB" dirty="0" err="1"/>
              <a:t>Conda</a:t>
            </a:r>
            <a:r>
              <a:rPr lang="en-GB" dirty="0"/>
              <a:t>/anaconda go one step further and allow </a:t>
            </a:r>
            <a:r>
              <a:rPr lang="en-GB" i="1" dirty="0"/>
              <a:t>environments</a:t>
            </a:r>
            <a:r>
              <a:rPr lang="en-GB" dirty="0"/>
              <a:t> to be created where for each new environment is created as a blank slate and all of the libraries are installed new</a:t>
            </a:r>
          </a:p>
          <a:p>
            <a:r>
              <a:rPr lang="en-GB" dirty="0"/>
              <a:t>Docker goes further and allows you to create </a:t>
            </a:r>
            <a:r>
              <a:rPr lang="en-GB" i="1" dirty="0"/>
              <a:t>containers </a:t>
            </a:r>
            <a:r>
              <a:rPr lang="en-GB" dirty="0"/>
              <a:t>based on virtual machines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655413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2E9A-81AC-B405-7D3E-A24BB8D2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A8749-C49D-8C21-89FD-B1A8D2140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Continuous integration efforts build on everything we’ve discussed and routinely and automatically compile code, and run tests every time code is checked in</a:t>
            </a:r>
          </a:p>
          <a:p>
            <a:r>
              <a:rPr lang="en-GB" dirty="0"/>
              <a:t>This gives an automatic notification of breaking changes</a:t>
            </a:r>
          </a:p>
        </p:txBody>
      </p:sp>
    </p:spTree>
    <p:extLst>
      <p:ext uri="{BB962C8B-B14F-4D97-AF65-F5344CB8AC3E}">
        <p14:creationId xmlns:p14="http://schemas.microsoft.com/office/powerpoint/2010/main" val="28012873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E15C1-6CE9-7ADF-4A14-778CE2A4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48E76-183F-C4A7-8464-913B4A119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683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91D3-A587-A782-A125-0880BB91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890BE-D11F-AEE0-47C6-7426C84FC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Random seeds</a:t>
            </a:r>
          </a:p>
          <a:p>
            <a:r>
              <a:rPr lang="en-GB" dirty="0"/>
              <a:t>Data storage (private and public)</a:t>
            </a:r>
          </a:p>
          <a:p>
            <a:r>
              <a:rPr lang="en-GB" dirty="0"/>
              <a:t>Sharing &amp; open source</a:t>
            </a:r>
          </a:p>
          <a:p>
            <a:endParaRPr lang="en-GB" dirty="0"/>
          </a:p>
          <a:p>
            <a:r>
              <a:rPr lang="en-GB" dirty="0"/>
              <a:t>Code formatting tools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868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F3EC-A577-9FB4-0F3A-5577F1A5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seeds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2011D-6EA4-2191-74B4-9937DB80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Stochastic simulation is common, and pseudo random number generators enable this</a:t>
            </a:r>
          </a:p>
          <a:p>
            <a:r>
              <a:rPr lang="en-GB" dirty="0"/>
              <a:t>PRNGs do not generate random numbers, they deterministically generate numbers that appear random from a function. This function has one input, a seed</a:t>
            </a:r>
          </a:p>
          <a:p>
            <a:r>
              <a:rPr lang="en-GB" dirty="0"/>
              <a:t>PRNG seeds frequently default to system time, preventing replication</a:t>
            </a:r>
          </a:p>
          <a:p>
            <a:endParaRPr lang="en-GB" dirty="0"/>
          </a:p>
          <a:p>
            <a:r>
              <a:rPr lang="en-GB" dirty="0"/>
              <a:t>Manually setting the seed avoids this issue and enables replication</a:t>
            </a:r>
          </a:p>
        </p:txBody>
      </p:sp>
    </p:spTree>
    <p:extLst>
      <p:ext uri="{BB962C8B-B14F-4D97-AF65-F5344CB8AC3E}">
        <p14:creationId xmlns:p14="http://schemas.microsoft.com/office/powerpoint/2010/main" val="25623830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6C3E-A650-A82D-C058-5B386A7A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storage and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0B46F-711C-CE64-9C59-171E386F5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Increasingly the expectation is that all data presented in publications should be shared; funders often mandate 10+ years of data storage</a:t>
            </a:r>
          </a:p>
          <a:p>
            <a:r>
              <a:rPr lang="en-GB" dirty="0"/>
              <a:t>This requires data is findable locally</a:t>
            </a:r>
          </a:p>
          <a:p>
            <a:r>
              <a:rPr lang="en-GB" dirty="0"/>
              <a:t>Store data from work in consistent ways to assist searches</a:t>
            </a:r>
          </a:p>
          <a:p>
            <a:r>
              <a:rPr lang="en-GB" dirty="0"/>
              <a:t>/projects/</a:t>
            </a:r>
          </a:p>
          <a:p>
            <a:pPr lvl="1"/>
            <a:r>
              <a:rPr lang="en-GB" dirty="0"/>
              <a:t>/projects/CML</a:t>
            </a:r>
          </a:p>
          <a:p>
            <a:pPr lvl="2"/>
            <a:r>
              <a:rPr lang="en-GB" dirty="0"/>
              <a:t>/projects/CML/executable-models</a:t>
            </a:r>
          </a:p>
          <a:p>
            <a:r>
              <a:rPr lang="en-GB" dirty="0"/>
              <a:t>/manuscripts/</a:t>
            </a:r>
          </a:p>
          <a:p>
            <a:pPr lvl="1"/>
            <a:r>
              <a:rPr lang="en-GB" dirty="0"/>
              <a:t>/manuscripts/CML/</a:t>
            </a:r>
          </a:p>
          <a:p>
            <a:pPr lvl="3"/>
            <a:r>
              <a:rPr lang="en-GB" dirty="0"/>
              <a:t>/manuscripts/CML/Figures/Data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84416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812E-8B1C-26DA-8229-61E7DF60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49BA3-B778-3E51-4147-9FEBBFCEB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FAIR-R guidelines</a:t>
            </a:r>
          </a:p>
          <a:p>
            <a:r>
              <a:rPr lang="en-GB" dirty="0"/>
              <a:t>Findable</a:t>
            </a:r>
          </a:p>
          <a:p>
            <a:pPr lvl="1"/>
            <a:r>
              <a:rPr lang="en-GB" dirty="0"/>
              <a:t>Where is the data?</a:t>
            </a:r>
          </a:p>
          <a:p>
            <a:r>
              <a:rPr lang="en-GB" dirty="0"/>
              <a:t>Accessible</a:t>
            </a:r>
          </a:p>
          <a:p>
            <a:pPr lvl="1"/>
            <a:r>
              <a:rPr lang="en-GB" dirty="0"/>
              <a:t>Can I download them?</a:t>
            </a:r>
          </a:p>
          <a:p>
            <a:r>
              <a:rPr lang="en-GB" dirty="0"/>
              <a:t>Interoperable</a:t>
            </a:r>
          </a:p>
          <a:p>
            <a:pPr lvl="1"/>
            <a:r>
              <a:rPr lang="en-GB" dirty="0"/>
              <a:t>Do I need specialised software to read the data</a:t>
            </a:r>
          </a:p>
          <a:p>
            <a:r>
              <a:rPr lang="en-GB" dirty="0"/>
              <a:t>Reusable</a:t>
            </a:r>
          </a:p>
          <a:p>
            <a:pPr lvl="1"/>
            <a:r>
              <a:rPr lang="en-GB" dirty="0"/>
              <a:t>Do I have freedom to reuse this?</a:t>
            </a:r>
          </a:p>
          <a:p>
            <a:r>
              <a:rPr lang="en-GB" dirty="0"/>
              <a:t>Reproducible</a:t>
            </a:r>
          </a:p>
          <a:p>
            <a:pPr lvl="1"/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704186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7151-6A0A-2F75-B2C3-9CCAE548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 data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18EFB-C2FC-3B40-2C78-69FC06DDD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Standard format</a:t>
            </a:r>
          </a:p>
          <a:p>
            <a:r>
              <a:rPr lang="en-GB" dirty="0"/>
              <a:t>SI in journals</a:t>
            </a:r>
          </a:p>
          <a:p>
            <a:r>
              <a:rPr lang="en-GB" dirty="0"/>
              <a:t>Public repositories</a:t>
            </a:r>
          </a:p>
          <a:p>
            <a:endParaRPr lang="en-GB" dirty="0"/>
          </a:p>
          <a:p>
            <a:r>
              <a:rPr lang="en-GB" dirty="0"/>
              <a:t>…where available</a:t>
            </a:r>
          </a:p>
          <a:p>
            <a:r>
              <a:rPr lang="en-GB" dirty="0"/>
              <a:t>…where possible</a:t>
            </a:r>
          </a:p>
          <a:p>
            <a:pPr lvl="1"/>
            <a:r>
              <a:rPr lang="en-GB" dirty="0"/>
              <a:t>Image datasets, genomic intermediaries etc can be massive, with cost implications for hosting</a:t>
            </a:r>
          </a:p>
        </p:txBody>
      </p:sp>
    </p:spTree>
    <p:extLst>
      <p:ext uri="{BB962C8B-B14F-4D97-AF65-F5344CB8AC3E}">
        <p14:creationId xmlns:p14="http://schemas.microsoft.com/office/powerpoint/2010/main" val="22620184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E1C7-343A-F542-67E7-41E885A7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formatting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7DAB1-8EA0-0D17-06BE-8509BCFA1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 trend of using code formatting tools to assist readability and standardisation of code styles</a:t>
            </a:r>
          </a:p>
          <a:p>
            <a:pPr lvl="1"/>
            <a:r>
              <a:rPr lang="en-GB" dirty="0"/>
              <a:t>E.g. enforce line length, number arguments to functions etc</a:t>
            </a:r>
          </a:p>
          <a:p>
            <a:pPr lvl="1"/>
            <a:r>
              <a:rPr lang="en-GB" dirty="0"/>
              <a:t>Discourage “bad” coding practices</a:t>
            </a:r>
          </a:p>
          <a:p>
            <a:pPr lvl="1"/>
            <a:r>
              <a:rPr lang="en-GB" dirty="0"/>
              <a:t>Consistent comment style</a:t>
            </a:r>
          </a:p>
          <a:p>
            <a:endParaRPr lang="en-GB" dirty="0"/>
          </a:p>
          <a:p>
            <a:r>
              <a:rPr lang="en-GB" dirty="0"/>
              <a:t>In principle this aids readability</a:t>
            </a:r>
          </a:p>
          <a:p>
            <a:r>
              <a:rPr lang="en-GB" dirty="0"/>
              <a:t>I’m unaware of anyone actually testing this</a:t>
            </a:r>
          </a:p>
        </p:txBody>
      </p:sp>
    </p:spTree>
    <p:extLst>
      <p:ext uri="{BB962C8B-B14F-4D97-AF65-F5344CB8AC3E}">
        <p14:creationId xmlns:p14="http://schemas.microsoft.com/office/powerpoint/2010/main" val="3197807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15111</TotalTime>
  <Words>2238</Words>
  <Application>Microsoft Office PowerPoint</Application>
  <PresentationFormat>Widescreen</PresentationFormat>
  <Paragraphs>291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Calibri Light</vt:lpstr>
      <vt:lpstr>Office Theme</vt:lpstr>
      <vt:lpstr>Reproducibility &amp; model reuse</vt:lpstr>
      <vt:lpstr>Introduction</vt:lpstr>
      <vt:lpstr>PowerPoint Presentation</vt:lpstr>
      <vt:lpstr>Difference from integration</vt:lpstr>
      <vt:lpstr>Introduction</vt:lpstr>
      <vt:lpstr>Examples in this lecture</vt:lpstr>
      <vt:lpstr>Reproducibility in the computational sciences</vt:lpstr>
      <vt:lpstr>Principles and pragmatism</vt:lpstr>
      <vt:lpstr>Balance &amp; culture</vt:lpstr>
      <vt:lpstr>Benefits</vt:lpstr>
      <vt:lpstr>PowerPoint Presentation</vt:lpstr>
      <vt:lpstr>What does failed reproducibility look like?</vt:lpstr>
      <vt:lpstr>PowerPoint Presentation</vt:lpstr>
      <vt:lpstr>Failure to generalize</vt:lpstr>
      <vt:lpstr>Key principles of reproducible software development</vt:lpstr>
      <vt:lpstr>Code &amp; data sharing</vt:lpstr>
      <vt:lpstr>Documentation and revision control</vt:lpstr>
      <vt:lpstr>Toolchain recording</vt:lpstr>
      <vt:lpstr>Tests</vt:lpstr>
      <vt:lpstr>Barriers to sharing &amp; reproducibility </vt:lpstr>
      <vt:lpstr>Data sensitivity, consent, and GDPR</vt:lpstr>
      <vt:lpstr>Cultural</vt:lpstr>
      <vt:lpstr>PowerPoint Presentation</vt:lpstr>
      <vt:lpstr>A contrarian take: reproducibility failures can be an instructive and natural part of research</vt:lpstr>
      <vt:lpstr>One dataset, two metabolomics papers</vt:lpstr>
      <vt:lpstr>One dataset, two processing approaches </vt:lpstr>
      <vt:lpstr>Interpretations are dependent on workflow</vt:lpstr>
      <vt:lpstr>PowerPoint Presentation</vt:lpstr>
      <vt:lpstr>PowerPoint Presentation</vt:lpstr>
      <vt:lpstr>PowerPoint Presentation</vt:lpstr>
      <vt:lpstr>But which one is right?</vt:lpstr>
      <vt:lpstr>Disagreement is not necessarily rooted in a failure in reproducibility</vt:lpstr>
      <vt:lpstr>PowerPoint Presentation</vt:lpstr>
      <vt:lpstr>Evidence</vt:lpstr>
      <vt:lpstr>Modelling</vt:lpstr>
      <vt:lpstr>Disagreement can be founded in a failure to reproduce</vt:lpstr>
      <vt:lpstr>PowerPoint Presentation</vt:lpstr>
      <vt:lpstr>PowerPoint Presentation</vt:lpstr>
      <vt:lpstr>PowerPoint Presentation</vt:lpstr>
      <vt:lpstr>Other ways to fail to replicate/reproduce…</vt:lpstr>
      <vt:lpstr>PowerPoint Presentation</vt:lpstr>
      <vt:lpstr>PowerPoint Presentation</vt:lpstr>
      <vt:lpstr>Conclusions</vt:lpstr>
      <vt:lpstr>PowerPoint Presentation</vt:lpstr>
      <vt:lpstr>Tooling </vt:lpstr>
      <vt:lpstr>Revision control systems</vt:lpstr>
      <vt:lpstr>Git basics</vt:lpstr>
      <vt:lpstr>Collaborative git/github</vt:lpstr>
      <vt:lpstr>Environments</vt:lpstr>
      <vt:lpstr>Continuous integration</vt:lpstr>
      <vt:lpstr>PowerPoint Presentation</vt:lpstr>
      <vt:lpstr>Guidelines</vt:lpstr>
      <vt:lpstr>Random seeds</vt:lpstr>
      <vt:lpstr>Data storage and sharing</vt:lpstr>
      <vt:lpstr>Data sharing</vt:lpstr>
      <vt:lpstr>Public data sharing</vt:lpstr>
      <vt:lpstr>Code formatting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simulators in F#</dc:title>
  <dc:creator>Samin Ishtiaq</dc:creator>
  <cp:lastModifiedBy>Hall, Benjamin</cp:lastModifiedBy>
  <cp:revision>39</cp:revision>
  <dcterms:created xsi:type="dcterms:W3CDTF">2013-02-11T14:53:26Z</dcterms:created>
  <dcterms:modified xsi:type="dcterms:W3CDTF">2025-12-08T10:08:09Z</dcterms:modified>
</cp:coreProperties>
</file>